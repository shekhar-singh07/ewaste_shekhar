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6C4A"/>
              </a:solidFill>
              <a:effectLst/>
            </c:spPr>
          </c:dPt>
          <c:dPt>
            <c:idx val="1"/>
            <c:bubble3D val="0"/>
            <c:spPr>
              <a:solidFill>
                <a:srgbClr val="C9DAC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Bypassed formal system</c:v>
                </c:pt>
                <c:pt idx="1">
                  <c:v>Formally collected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98</c:v>
                </c:pt>
                <c:pt idx="1">
                  <c:v>2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mgs/img-0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0"/>
            <a:ext cx="47365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78040" y="0"/>
            <a:ext cx="457200" cy="685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  ·  E-WASTE MANAGEMENT BRIEFING  ·  2025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96596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E-Waste in Goa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21792" y="27889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3E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Hidden Cost of a Digital Paradise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3611880"/>
            <a:ext cx="1463040" cy="0"/>
          </a:xfrm>
          <a:prstGeom prst="line">
            <a:avLst/>
          </a:prstGeom>
          <a:noFill/>
          <a:ln w="25400">
            <a:solidFill>
              <a:srgbClr val="C9A1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384048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growing electronic consumption to an emerging circular-economy opportunity — a briefing for policy-makers, local government, NGOs and stakeholders in Goa.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" y="6172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Government of Goa — E-Waste Policy 2024 · GWMC · GSPCB · CAG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Consumption,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E-Waste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Goa's tourism-driven, high-consumption economy produces significant e-waste. The real challenge isn't production — it's capturing and processing it safely.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3E3D9"/>
            </a:solidFill>
            <a:prstDash val="solid"/>
          </a:ln>
          <a:effectLst>
            <a:outerShdw sx="100000" sy="100000" kx="0" ky="0" algn="bl" rotWithShape="0" blurRad="101600" dist="38100" dir="5400000">
              <a:srgbClr val="1B433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3410712"/>
            <a:ext cx="1728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~7,000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58952" y="3904488"/>
            <a:ext cx="1728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6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/ year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4206240"/>
            <a:ext cx="17282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e-waste — state inventorisation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07208" y="324612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3E3D9"/>
            </a:solidFill>
            <a:prstDash val="solid"/>
          </a:ln>
          <a:effectLst>
            <a:outerShdw sx="100000" sy="100000" kx="0" ky="0" algn="bl" rotWithShape="0" blurRad="101600" dist="38100" dir="5400000">
              <a:srgbClr val="1B433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0" y="3410712"/>
            <a:ext cx="1728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~570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26080" y="3904488"/>
            <a:ext cx="1728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6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/ year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0" y="4206240"/>
            <a:ext cx="17282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collected (GSPCB, 2019–20)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74336" y="324612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3E3D9"/>
            </a:solidFill>
            <a:prstDash val="solid"/>
          </a:ln>
          <a:effectLst>
            <a:outerShdw sx="100000" sy="100000" kx="0" ky="0" algn="bl" rotWithShape="0" blurRad="101600" dist="38100" dir="5400000">
              <a:srgbClr val="1B433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93208" y="3410712"/>
            <a:ext cx="1728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4,320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93208" y="3904488"/>
            <a:ext cx="1728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6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93208" y="4206240"/>
            <a:ext cx="17282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Per-capita projection applied to Goa (2020 basis)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6300216" cy="9144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" y="5257800"/>
            <a:ext cx="5861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discrepancies between figures reflect differing methods, reporting gaps and high equipment penetration across the state — not a shrinking problem.</a:t>
            </a:r>
            <a:endParaRPr lang="en-US" sz="1150" dirty="0"/>
          </a:p>
        </p:txBody>
      </p:sp>
      <p:pic>
        <p:nvPicPr>
          <p:cNvPr id="19" name="Image 0" descr="/home/claude/work/imgs/img-0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0"/>
            <a:ext cx="4828032" cy="6858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gwmc.goa.gov.in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922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Numbers, Clear Risk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studies use different methods and years — these figures should not be read as a single continuous series. The working conclusion: generation is consistently larger than formal collection indicates.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08760" y="2999232"/>
            <a:ext cx="9418320" cy="0"/>
          </a:xfrm>
          <a:prstGeom prst="line">
            <a:avLst/>
          </a:prstGeom>
          <a:noFill/>
          <a:ln w="25400">
            <a:solidFill>
              <a:srgbClr val="D3E3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8176" y="2898648"/>
            <a:ext cx="201168" cy="201168"/>
          </a:xfrm>
          <a:prstGeom prst="ellipse">
            <a:avLst/>
          </a:prstGeom>
          <a:solidFill>
            <a:srgbClr val="5279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591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2918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3E3D9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427.4 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" y="3913632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collection amount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47616" y="2898648"/>
            <a:ext cx="201168" cy="201168"/>
          </a:xfrm>
          <a:prstGeom prst="ellipse">
            <a:avLst/>
          </a:prstGeom>
          <a:solidFill>
            <a:srgbClr val="5279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5240" y="23591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33800" y="32918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3E3D9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2524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~1,000 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06952" y="3913632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increase reported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87056" y="2898648"/>
            <a:ext cx="201168" cy="201168"/>
          </a:xfrm>
          <a:prstGeom prst="ellipse">
            <a:avLst/>
          </a:prstGeom>
          <a:solidFill>
            <a:srgbClr val="5279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4680" y="23591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73240" y="32918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3E3D9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6468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~570 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46392" y="3913632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that period (GSPCB)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826496" y="2898648"/>
            <a:ext cx="201168" cy="201168"/>
          </a:xfrm>
          <a:prstGeom prst="ellipse">
            <a:avLst/>
          </a:prstGeom>
          <a:solidFill>
            <a:srgbClr val="D96C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04120" y="23591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12680" y="32918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10412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~7,000 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85832" y="3913632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inventorisation — estimated per year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544068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E7EFE9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44068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D96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GSPCB and state-inventorisation figures each carry their own methodology caveats — treat them as independent snapshots, not a trend line.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Goa Generates So Much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policy highlights high equipment penetration across three groups as the driver of higher real-world e-waste than per-capita estimates alone suggest.</a:t>
            </a:r>
            <a:endParaRPr lang="en-US" sz="1300" dirty="0"/>
          </a:p>
        </p:txBody>
      </p:sp>
      <p:pic>
        <p:nvPicPr>
          <p:cNvPr id="5" name="Image 0" descr="/home/claude/work/imgs/img-0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331720"/>
            <a:ext cx="3429000" cy="1965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331720"/>
            <a:ext cx="3429000" cy="1965960"/>
          </a:xfrm>
          <a:prstGeom prst="roundRect">
            <a:avLst>
              <a:gd name="adj" fmla="val 2791"/>
            </a:avLst>
          </a:prstGeom>
          <a:ln w="12700">
            <a:solidFill>
              <a:srgbClr val="D3E3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4348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482803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ownership of smartphones, laptops, TVs, fridges, washing machines and small appliances.</a:t>
            </a:r>
            <a:endParaRPr lang="en-US" sz="1150" dirty="0"/>
          </a:p>
        </p:txBody>
      </p:sp>
      <p:pic>
        <p:nvPicPr>
          <p:cNvPr id="9" name="Image 1" descr="/home/claude/work/imgs/img-01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0" y="2331720"/>
            <a:ext cx="3429000" cy="19659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89120" y="2331720"/>
            <a:ext cx="3429000" cy="1965960"/>
          </a:xfrm>
          <a:prstGeom prst="roundRect">
            <a:avLst>
              <a:gd name="adj" fmla="val 2791"/>
            </a:avLst>
          </a:prstGeom>
          <a:ln w="12700">
            <a:solidFill>
              <a:srgbClr val="D3E3D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389120" y="44348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Tourism &amp; Hospitality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389120" y="482803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Hotels, restaurants and resorts use and replace large volumes of entertainment and catering electronics.</a:t>
            </a:r>
            <a:endParaRPr lang="en-US" sz="1150" dirty="0"/>
          </a:p>
        </p:txBody>
      </p:sp>
      <p:pic>
        <p:nvPicPr>
          <p:cNvPr id="13" name="Image 2" descr="/home/claude/work/imgs/img-015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2331720"/>
            <a:ext cx="3429000" cy="19659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138160" y="2331720"/>
            <a:ext cx="3429000" cy="1965960"/>
          </a:xfrm>
          <a:prstGeom prst="roundRect">
            <a:avLst>
              <a:gd name="adj" fmla="val 2791"/>
            </a:avLst>
          </a:prstGeom>
          <a:ln w="12700">
            <a:solidFill>
              <a:srgbClr val="D3E3D9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138160" y="44348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Industry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138160" y="482803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Offices, shops and industrial sites generate IT equipment, printers and control electronics.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&amp; Risk,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Across Goa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generation intensity is highest around Panaji and the Ponda–Kundaim–Verna industrial belt, where authorised collection centres and electronics/EEE industries also cluster. The proposed Pissurlem facility sits at the state's eastern edge, and a recycling facility is already active near South Goa.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3630168"/>
            <a:ext cx="91440" cy="91440"/>
          </a:xfrm>
          <a:prstGeom prst="ellipse">
            <a:avLst/>
          </a:prstGeom>
          <a:solidFill>
            <a:srgbClr val="D96C4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347472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High-intensity zones  —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Panaji, Ponda &amp; the central industrial belt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4197096"/>
            <a:ext cx="91440" cy="91440"/>
          </a:xfrm>
          <a:prstGeom prst="ellipse">
            <a:avLst/>
          </a:prstGeom>
          <a:solidFill>
            <a:srgbClr val="D96C4A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4041648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authorised collection centres  —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Patto, Vasco, Margao, Mapusa, Ponda, Bicholim, Sankhali, Canacona, Curchorem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4764024"/>
            <a:ext cx="91440" cy="91440"/>
          </a:xfrm>
          <a:prstGeom prst="ellipse">
            <a:avLst/>
          </a:prstGeom>
          <a:solidFill>
            <a:srgbClr val="D96C4A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4608576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Pissurlem (proposed)  —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e-waste recycling facility, eastern North Goa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5330952"/>
            <a:ext cx="91440" cy="91440"/>
          </a:xfrm>
          <a:prstGeom prst="ellipse">
            <a:avLst/>
          </a:prstGeom>
          <a:solidFill>
            <a:srgbClr val="D96C4A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5175504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 &amp; Kundaim estates  —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electronics / EEE industry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36992" y="301752"/>
            <a:ext cx="3968496" cy="5843016"/>
          </a:xfrm>
          <a:prstGeom prst="roundRect">
            <a:avLst>
              <a:gd name="adj" fmla="val 1382"/>
            </a:avLst>
          </a:prstGeom>
          <a:solidFill>
            <a:srgbClr val="FFFFFF"/>
          </a:solidFill>
          <a:ln w="12700">
            <a:solidFill>
              <a:srgbClr val="D3E3D9"/>
            </a:solidFill>
            <a:prstDash val="solid"/>
          </a:ln>
          <a:effectLst>
            <a:outerShdw sx="100000" sy="100000" kx="0" ky="0" algn="bl" rotWithShape="0" blurRad="127000" dist="38100" dir="5400000">
              <a:srgbClr val="1B4332">
                <a:alpha val="18000"/>
              </a:srgbClr>
            </a:outerShdw>
          </a:effectLst>
        </p:spPr>
      </p:sp>
      <p:pic>
        <p:nvPicPr>
          <p:cNvPr id="14" name="Image 0" descr="/home/claude/work/imgs/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11480"/>
            <a:ext cx="3749040" cy="56235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936992" y="619048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GSPCB · GWMC · CPCB · MoEFCC · Global E-waste Monitor 2024 (data as of May 2025)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Waste Go?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Historically, Goa had no authorised recyclers, few authorised collection centres or refurbishers, a single authorised dismantler — and hundreds of scrap dealers, many informal.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234E3B"/>
          </a:solidFill>
          <a:ln w="12700">
            <a:solidFill>
              <a:srgbClr val="3A6B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496312"/>
            <a:ext cx="329184" cy="329184"/>
          </a:xfrm>
          <a:prstGeom prst="roundRect">
            <a:avLst>
              <a:gd name="adj" fmla="val 138889"/>
            </a:avLst>
          </a:prstGeom>
          <a:solidFill>
            <a:srgbClr val="C9A15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45973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34440" y="2834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&amp; businesses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23317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234E3B"/>
          </a:solidFill>
          <a:ln w="12700">
            <a:solidFill>
              <a:srgbClr val="3A6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2496312"/>
            <a:ext cx="329184" cy="329184"/>
          </a:xfrm>
          <a:prstGeom prst="roundRect">
            <a:avLst>
              <a:gd name="adj" fmla="val 138889"/>
            </a:avLst>
          </a:prstGeom>
          <a:solidFill>
            <a:srgbClr val="C9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4416552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45973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 electronics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46320" y="2834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End-of-life devices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0" y="23317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234E3B"/>
          </a:solidFill>
          <a:ln w="12700">
            <a:solidFill>
              <a:srgbClr val="3A6B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8432" y="2496312"/>
            <a:ext cx="329184" cy="329184"/>
          </a:xfrm>
          <a:prstGeom prst="roundRect">
            <a:avLst>
              <a:gd name="adj" fmla="val 138889"/>
            </a:avLst>
          </a:prstGeom>
          <a:solidFill>
            <a:srgbClr val="C9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8028432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245973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58200" y="2834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centres &amp; scrap dealers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234E3B"/>
          </a:solidFill>
          <a:ln w="12700">
            <a:solidFill>
              <a:srgbClr val="3A6B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913632"/>
            <a:ext cx="329184" cy="329184"/>
          </a:xfrm>
          <a:prstGeom prst="roundRect">
            <a:avLst>
              <a:gd name="adj" fmla="val 138889"/>
            </a:avLst>
          </a:prstGeom>
          <a:solidFill>
            <a:srgbClr val="C9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913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87705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Informal scrap market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34440" y="4251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flow via scrap dealers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374904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234E3B"/>
          </a:solidFill>
          <a:ln w="12700">
            <a:solidFill>
              <a:srgbClr val="3A6B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16552" y="3913632"/>
            <a:ext cx="329184" cy="329184"/>
          </a:xfrm>
          <a:prstGeom prst="roundRect">
            <a:avLst>
              <a:gd name="adj" fmla="val 138889"/>
            </a:avLst>
          </a:prstGeom>
          <a:solidFill>
            <a:srgbClr val="C9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4416552" y="3913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87705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Dismantling / Resale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846320" y="4251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dismantling, material loss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63840" y="374904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234E3B"/>
          </a:solidFill>
          <a:ln w="12700">
            <a:solidFill>
              <a:srgbClr val="3A6B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28432" y="3913632"/>
            <a:ext cx="329184" cy="329184"/>
          </a:xfrm>
          <a:prstGeom prst="roundRect">
            <a:avLst>
              <a:gd name="adj" fmla="val 138889"/>
            </a:avLst>
          </a:prstGeom>
          <a:solidFill>
            <a:srgbClr val="C9A15A"/>
          </a:solidFill>
          <a:ln/>
        </p:spPr>
      </p:sp>
      <p:sp>
        <p:nvSpPr>
          <p:cNvPr id="32" name="Text 30"/>
          <p:cNvSpPr/>
          <p:nvPr/>
        </p:nvSpPr>
        <p:spPr>
          <a:xfrm>
            <a:off x="8028432" y="3913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58200" y="387705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system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458200" y="4251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residual volume to recyclers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806440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D96C4A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80644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 scrap dealers statewide — only ~350 registered with the Goa Scrap Dealers Association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Leakage — A Stark Gap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CAG-related audit covering 2019–2023 found that the vast majority of e-waste bypassed formal collection centres entirely — over 35,000 tonnes moved outside formal channels in the audited period.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Consequences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3182112"/>
            <a:ext cx="82296" cy="82296"/>
          </a:xfrm>
          <a:prstGeom prst="ellipse">
            <a:avLst/>
          </a:prstGeom>
          <a:solidFill>
            <a:srgbClr val="D96C4A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303580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traceability and enforcement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3602736"/>
            <a:ext cx="82296" cy="82296"/>
          </a:xfrm>
          <a:prstGeom prst="ellipse">
            <a:avLst/>
          </a:prstGeom>
          <a:solidFill>
            <a:srgbClr val="D96C4A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34564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dismantling and unsafe practices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4023360"/>
            <a:ext cx="82296" cy="82296"/>
          </a:xfrm>
          <a:prstGeom prst="ellipse">
            <a:avLst/>
          </a:prstGeom>
          <a:solidFill>
            <a:srgbClr val="D96C4A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87705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recoverable materials and economic value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443984"/>
            <a:ext cx="82296" cy="82296"/>
          </a:xfrm>
          <a:prstGeom prst="ellipse">
            <a:avLst/>
          </a:prstGeom>
          <a:solidFill>
            <a:srgbClr val="D96C4A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2976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and health hazards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6309360" cy="1051560"/>
          </a:xfrm>
          <a:prstGeom prst="roundRect">
            <a:avLst>
              <a:gd name="adj" fmla="val 6957"/>
            </a:avLst>
          </a:prstGeom>
          <a:solidFill>
            <a:srgbClr val="E7EFE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74920"/>
            <a:ext cx="5852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D96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Footnote: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CAG finding covers 2019–23 and should not be read as a current (2026) generation estimate.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315200" y="141732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8229600" y="29718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6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8229600" y="3566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e-waste bypassed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collection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(CAG period, 2019–23)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Times of India · CAG report (2019–2023 audit)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mgs/img-02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9436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46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46520" y="82296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&amp;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Costs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46520" y="205740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E3D9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75120" y="21671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75120" y="24688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and open dismantling release toxic fumes — persistent organic pollutants and heavy-metal particulates.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46520" y="3264408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E3D9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0" y="33741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&amp; Soil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75120" y="367588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Leaching of lead, mercury, cadmium and flame retardants contaminates groundwater and sediments.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46520" y="4471416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E3D9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75120" y="458114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75120" y="488289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workers and nearby communities face chronic exposure, respiratory issues, and long-term health risks.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46520" y="5751576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1B4332"/>
          </a:solidFill>
          <a:ln/>
        </p:spPr>
      </p:sp>
      <p:sp>
        <p:nvSpPr>
          <p:cNvPr id="15" name="Text 12"/>
          <p:cNvSpPr/>
          <p:nvPr/>
        </p:nvSpPr>
        <p:spPr>
          <a:xfrm>
            <a:off x="6675120" y="5751576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 policy identifies toxic releases, environmental impacts and lost materials as key risks.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FORMALISATION IN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Pissurlem &amp; Early Infrastructure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 is shifting from informal disposal toward formal collection, dismantling and authorised recycling.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C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130552"/>
            <a:ext cx="5440680" cy="0"/>
          </a:xfrm>
          <a:prstGeom prst="line">
            <a:avLst/>
          </a:prstGeom>
          <a:noFill/>
          <a:ln w="19050">
            <a:solidFill>
              <a:srgbClr val="D3E3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Facility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E-Waste Management Facility proposed at Pissurlem Industrial Estate — 4,000 m² of land allocated.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09067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C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71600" y="3209544"/>
            <a:ext cx="5440680" cy="0"/>
          </a:xfrm>
          <a:prstGeom prst="line">
            <a:avLst/>
          </a:prstGeom>
          <a:noFill/>
          <a:ln w="19050">
            <a:solidFill>
              <a:srgbClr val="D3E3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64992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Capacity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project plan noted ~15 tonnes/day capacity, subject to final design and approvals.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16966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C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4288536"/>
            <a:ext cx="5440680" cy="0"/>
          </a:xfrm>
          <a:prstGeom prst="line">
            <a:avLst/>
          </a:prstGeom>
          <a:noFill/>
          <a:ln w="19050">
            <a:solidFill>
              <a:srgbClr val="D3E3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43984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Interim Operations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73659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GWMC reports collection from ULBs/RLBs is already underway, with collected e-waste sent to authorised recyclers while the facility is established.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5358384"/>
            <a:ext cx="6336792" cy="777240"/>
          </a:xfrm>
          <a:prstGeom prst="roundRect">
            <a:avLst>
              <a:gd name="adj" fmla="val 9412"/>
            </a:avLst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358384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idea: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integration remain the urgent tasks as Goa builds out formal e-waste infrastructure.</a:t>
            </a:r>
            <a:endParaRPr lang="en-US" sz="1100" dirty="0"/>
          </a:p>
        </p:txBody>
      </p:sp>
      <p:pic>
        <p:nvPicPr>
          <p:cNvPr id="19" name="Image 0" descr="/home/claude/work/imgs/img-03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0"/>
            <a:ext cx="4828032" cy="6858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GWMC · Green Tribunal references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922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Framework — A Complete Ecosystem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chain:  Producer → Dealer → Consumer → Collector → Refurbisher / Dismantler → Recycler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3E3D9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6712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E7EFE9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responsibility for end-of-life; obligations for take-back and financing collection.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47288" y="19659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3E3D9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0168" y="216712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E7EFE9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0168" y="271576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 &amp; Logistics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0168" y="338328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collection points and reverse-logistics from municipalities, panchayats, hotels and institutions.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54496" y="19659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3E3D9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37376" y="216712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E7EFE9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37376" y="271576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37376" y="338328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records tracking consumer → collection → transport → dismantling → recycling.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61704" y="19659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3E3D9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44584" y="216712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E7EFE9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4584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44584" y="271576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Informal Sector Integration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44584" y="338328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register and partner with scrap collectors to bring them into safe, traceable workflows.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44068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E7EFE9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44068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part of the framework:  </a:t>
            </a:r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Recycling (transforms waste into resources, ensures safety, creates jobs) and Awareness (educates citizens, encourages responsible behaviour). Policy emphasises environmentally sound recycling, capacity building and clear stakeholder roles.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WASTE TO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 &amp;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3E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"From a waste destination to a circular-economy destination."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9A15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223113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70432" y="2560320"/>
            <a:ext cx="5989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collection across municipalities, panchayats, hotels, offices and institutions.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9A1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300837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70432" y="3337560"/>
            <a:ext cx="5989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train and partner with scrap collectors; incentivise formal channels.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9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78561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70432" y="4114800"/>
            <a:ext cx="5989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Pissurlem; expand authorised refurbishment, dismantling and recycling capacity.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9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456285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70432" y="4892040"/>
            <a:ext cx="5989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transparent digital chain of custody for weights, transport and disposal.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623560"/>
            <a:ext cx="1627632" cy="868680"/>
          </a:xfrm>
          <a:prstGeom prst="roundRect">
            <a:avLst>
              <a:gd name="adj" fmla="val 7368"/>
            </a:avLst>
          </a:prstGeom>
          <a:solidFill>
            <a:srgbClr val="234E3B"/>
          </a:solidFill>
          <a:ln w="12700">
            <a:solidFill>
              <a:srgbClr val="3A6B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568756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~7,000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" y="6035040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t/year scheduled generation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59152" y="5623560"/>
            <a:ext cx="1627632" cy="868680"/>
          </a:xfrm>
          <a:prstGeom prst="roundRect">
            <a:avLst>
              <a:gd name="adj" fmla="val 7368"/>
            </a:avLst>
          </a:prstGeom>
          <a:solidFill>
            <a:srgbClr val="234E3B"/>
          </a:solidFill>
          <a:ln w="12700">
            <a:solidFill>
              <a:srgbClr val="3A6B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32304" y="568756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432304" y="6035040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bypassed formal collection (2019–23)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78224" y="5623560"/>
            <a:ext cx="1627632" cy="868680"/>
          </a:xfrm>
          <a:prstGeom prst="roundRect">
            <a:avLst>
              <a:gd name="adj" fmla="val 7368"/>
            </a:avLst>
          </a:prstGeom>
          <a:solidFill>
            <a:srgbClr val="234E3B"/>
          </a:solidFill>
          <a:ln w="12700">
            <a:solidFill>
              <a:srgbClr val="3A6B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51376" y="568756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 m²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151376" y="6035040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provided at Pissurlem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97296" y="5623560"/>
            <a:ext cx="1627632" cy="868680"/>
          </a:xfrm>
          <a:prstGeom prst="roundRect">
            <a:avLst>
              <a:gd name="adj" fmla="val 7368"/>
            </a:avLst>
          </a:prstGeom>
          <a:solidFill>
            <a:srgbClr val="234E3B"/>
          </a:solidFill>
          <a:ln w="12700">
            <a:solidFill>
              <a:srgbClr val="3A6B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0448" y="568756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TPD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70448" y="6035040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proposed facility capacity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35240" y="14173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C9D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correction:  avoid the erroneous "500 tonnes/day" figure circulating elsewhere — it conflicts with state estimates and likely reflects a unit error. Use the ~15 TPD proposed-capacity figure instead.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635240" y="233172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234E3B"/>
          </a:solidFill>
          <a:ln w="12700">
            <a:solidFill>
              <a:srgbClr val="3A6B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24048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18120" y="26791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Copper, aluminium, iron, gold, silver, plastics — extract valuable materials.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635240" y="3236976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234E3B"/>
          </a:solidFill>
          <a:ln w="12700">
            <a:solidFill>
              <a:srgbClr val="3A6B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18120" y="331012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Refurbish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818120" y="358444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device life through repair and certified refurbishing.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635240" y="4142232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234E3B"/>
          </a:solidFill>
          <a:ln w="12700">
            <a:solidFill>
              <a:srgbClr val="3A6B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18120" y="4215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Recycle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818120" y="448970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Environmentally sound material recovery through authorised recyclers.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635240" y="5047488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234E3B"/>
          </a:solidFill>
          <a:ln w="12700">
            <a:solidFill>
              <a:srgbClr val="3A6B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18120" y="51206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818120" y="5394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3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jobs, local economic activity, and reduced import dependence for raw materials.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2026-08-10T09:26:31Z</dcterms:created>
  <dcterms:modified xsi:type="dcterms:W3CDTF">2026-08-10T09:26:31Z</dcterms:modified>
</cp:coreProperties>
</file>